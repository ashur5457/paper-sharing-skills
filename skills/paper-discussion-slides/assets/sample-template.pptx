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Cover: no header or footer. Title in the talk language; original title, authors, source type and date below; the presenter goes bottom right. The footer credit on later slides names the source authors.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step 1 of 2 (same page number as step 2). Curved arrow: this leads to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step 2 of 2: the previous callout and arrow are gone; the rest of the figure is dimmed only to show dimming; normally a frame circles part of an image and nothing is dimmed. Block arrow: this, therefore.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Blocks: accent title bar, light grey body with real bullets (bullets()), keywords and numbers only. The QR placeholder shows what qr() draws when no event link is known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95400" y="2000250"/>
            <a:ext cx="156972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 i="0">
                <a:solidFill>
                  <a:srgbClr val="3333B2"/>
                </a:solidFill>
                <a:latin typeface="Arial"/>
                <a:ea typeface="Microsoft JhengHei"/>
              </a:rPr>
              <a:t>Talk Title in the Slide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0" y="3857625"/>
            <a:ext cx="11430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 i="0">
                <a:solidFill>
                  <a:srgbClr val="3333B2"/>
                </a:solidFill>
                <a:latin typeface="Arial"/>
                <a:ea typeface="Microsoft JhengHei"/>
              </a:rPr>
              <a:t>Original Paper / Article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466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Arial"/>
                <a:ea typeface="Microsoft JhengHei"/>
              </a:rPr>
              <a:t>Authors · Venue or Source Type ·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1500" y="5715000"/>
            <a:ext cx="9525000" cy="2476500"/>
          </a:xfrm>
          <a:prstGeom prst="roundRect">
            <a:avLst>
              <a:gd name="adj" fmla="val 4615"/>
            </a:avLst>
          </a:prstGeom>
          <a:solidFill>
            <a:srgbClr val="DC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0" y="5715000"/>
            <a:ext cx="9525000" cy="247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5F5F6E"/>
                </a:solidFill>
                <a:latin typeface="Arial"/>
                <a:ea typeface="Microsoft JhengHei"/>
              </a:rPr>
              <a:t>cover strip: figures from the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8953500"/>
            <a:ext cx="8001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0" i="0">
                <a:solidFill>
                  <a:srgbClr val="1A1A1A"/>
                </a:solidFill>
                <a:latin typeface="Arial"/>
                <a:ea typeface="Microsoft JhengHei"/>
              </a:rPr>
              <a:t>Presented by Presenter Name</a:t>
            </a:r>
          </a:p>
          <a:p>
            <a:pPr algn="r"/>
            <a:r>
              <a:rPr sz="2400" b="0" i="0">
                <a:solidFill>
                  <a:srgbClr val="1A1A1A"/>
                </a:solidFill>
                <a:latin typeface="Arial"/>
                <a:ea typeface="Microsoft JhengHei"/>
              </a:rPr>
              <a:t>Presenter Institution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43815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150"/>
            <a:ext cx="18288000" cy="40005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69164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3333B2"/>
                </a:solidFill>
                <a:latin typeface="Arial"/>
                <a:ea typeface="Microsoft JhengHei"/>
              </a:rPr>
              <a:t>Slide title: what this slide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906000"/>
            <a:ext cx="9144000" cy="38100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906000"/>
            <a:ext cx="9144000" cy="38100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" y="9906000"/>
            <a:ext cx="84582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Arial"/>
                <a:ea typeface="Microsoft JhengHei"/>
              </a:rPr>
              <a:t>Short Deck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6900" y="99060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Source Authors / Institution,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0" y="9906000"/>
            <a:ext cx="28575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2 /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9525000" cy="5334000"/>
          </a:xfrm>
          <a:prstGeom prst="roundRect">
            <a:avLst>
              <a:gd name="adj" fmla="val 2142"/>
            </a:avLst>
          </a:prstGeom>
          <a:solidFill>
            <a:srgbClr val="DC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9525000" cy="53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5F5F6E"/>
                </a:solidFill>
                <a:latin typeface="Arial"/>
                <a:ea typeface="Microsoft JhengHei"/>
              </a:rPr>
              <a:t>figure from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810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5F6E"/>
                </a:solidFill>
                <a:latin typeface="Arial"/>
                <a:ea typeface="Microsoft JhengHei"/>
              </a:rPr>
              <a:t>Fig. N  caption in muted grey; "redrawn from the paper's Fig. N data" if redrawn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39500" y="3143250"/>
            <a:ext cx="6138672" cy="1684020"/>
          </a:xfrm>
          <a:prstGeom prst="roundRect">
            <a:avLst>
              <a:gd name="adj" fmla="val 9049"/>
            </a:avLst>
          </a:prstGeom>
          <a:solidFill>
            <a:srgbClr val="F0F0F0"/>
          </a:solidFill>
          <a:ln w="19050">
            <a:solidFill>
              <a:srgbClr val="99B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0" y="3143250"/>
            <a:ext cx="5757672" cy="1684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5757"/>
                </a:solidFill>
                <a:latin typeface="Arial"/>
                <a:ea typeface="Microsoft JhengHei"/>
              </a:rPr>
              <a:t>A question that makes</a:t>
            </a:r>
          </a:p>
          <a:p>
            <a:pPr algn="ctr"/>
            <a:r>
              <a:rPr sz="3600" b="1" i="0">
                <a:solidFill>
                  <a:srgbClr val="FF5757"/>
                </a:solidFill>
                <a:latin typeface="Arial"/>
                <a:ea typeface="Microsoft JhengHei"/>
              </a:rPr>
              <a:t>the audience think?</a:t>
            </a:r>
          </a:p>
        </p:txBody>
      </p:sp>
      <p:sp>
        <p:nvSpPr>
          <p:cNvPr id="15" name="Freeform 14"/>
          <p:cNvSpPr/>
          <p:nvPr/>
        </p:nvSpPr>
        <p:spPr>
          <a:xfrm>
            <a:off x="10195048" y="3985260"/>
            <a:ext cx="949202" cy="1729740"/>
          </a:xfrm>
          <a:custGeom>
            <a:avLst/>
            <a:gdLst/>
            <a:ahLst/>
            <a:cxnLst/>
            <a:rect l="l" t="t" r="r" b="b"/>
            <a:pathLst>
              <a:path w="949202" h="1729740">
                <a:moveTo>
                  <a:pt x="15752" y="1729740"/>
                </a:moveTo>
                <a:lnTo>
                  <a:pt x="8266" y="1655904"/>
                </a:lnTo>
                <a:lnTo>
                  <a:pt x="3146" y="1583345"/>
                </a:lnTo>
                <a:lnTo>
                  <a:pt x="390" y="1512062"/>
                </a:lnTo>
                <a:lnTo>
                  <a:pt x="0" y="1442055"/>
                </a:lnTo>
                <a:lnTo>
                  <a:pt x="1974" y="1373324"/>
                </a:lnTo>
                <a:lnTo>
                  <a:pt x="6313" y="1305870"/>
                </a:lnTo>
                <a:lnTo>
                  <a:pt x="13017" y="1239691"/>
                </a:lnTo>
                <a:lnTo>
                  <a:pt x="22086" y="1174789"/>
                </a:lnTo>
                <a:lnTo>
                  <a:pt x="33519" y="1111163"/>
                </a:lnTo>
                <a:lnTo>
                  <a:pt x="47318" y="1048814"/>
                </a:lnTo>
                <a:lnTo>
                  <a:pt x="63481" y="987740"/>
                </a:lnTo>
                <a:lnTo>
                  <a:pt x="82010" y="927943"/>
                </a:lnTo>
                <a:lnTo>
                  <a:pt x="102903" y="869422"/>
                </a:lnTo>
                <a:lnTo>
                  <a:pt x="126161" y="812177"/>
                </a:lnTo>
                <a:lnTo>
                  <a:pt x="151784" y="756208"/>
                </a:lnTo>
                <a:lnTo>
                  <a:pt x="179772" y="701516"/>
                </a:lnTo>
                <a:lnTo>
                  <a:pt x="210125" y="648099"/>
                </a:lnTo>
                <a:lnTo>
                  <a:pt x="242842" y="595959"/>
                </a:lnTo>
                <a:lnTo>
                  <a:pt x="277925" y="545096"/>
                </a:lnTo>
                <a:lnTo>
                  <a:pt x="315372" y="495508"/>
                </a:lnTo>
                <a:lnTo>
                  <a:pt x="355185" y="447196"/>
                </a:lnTo>
                <a:lnTo>
                  <a:pt x="397362" y="400161"/>
                </a:lnTo>
                <a:lnTo>
                  <a:pt x="441904" y="354402"/>
                </a:lnTo>
                <a:lnTo>
                  <a:pt x="488811" y="309919"/>
                </a:lnTo>
                <a:lnTo>
                  <a:pt x="538082" y="266713"/>
                </a:lnTo>
                <a:lnTo>
                  <a:pt x="589719" y="224782"/>
                </a:lnTo>
                <a:lnTo>
                  <a:pt x="643721" y="184128"/>
                </a:lnTo>
                <a:lnTo>
                  <a:pt x="700087" y="144750"/>
                </a:lnTo>
                <a:lnTo>
                  <a:pt x="758818" y="106648"/>
                </a:lnTo>
                <a:lnTo>
                  <a:pt x="819915" y="69822"/>
                </a:lnTo>
                <a:lnTo>
                  <a:pt x="883376" y="34273"/>
                </a:lnTo>
                <a:lnTo>
                  <a:pt x="949202" y="0"/>
                </a:lnTo>
              </a:path>
            </a:pathLst>
          </a:custGeom>
          <a:noFill/>
          <a:ln w="127000" cap="rnd">
            <a:solidFill>
              <a:srgbClr val="FF5757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43815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150"/>
            <a:ext cx="18288000" cy="40005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69164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3333B2"/>
                </a:solidFill>
                <a:latin typeface="Arial"/>
                <a:ea typeface="Microsoft JhengHei"/>
              </a:rPr>
              <a:t>Slide title: what this slide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906000"/>
            <a:ext cx="9144000" cy="38100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906000"/>
            <a:ext cx="9144000" cy="38100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" y="9906000"/>
            <a:ext cx="84582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Arial"/>
                <a:ea typeface="Microsoft JhengHei"/>
              </a:rPr>
              <a:t>Short Deck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6900" y="99060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Source Authors / Institution,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0" y="9906000"/>
            <a:ext cx="28575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2 /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9525000" cy="5334000"/>
          </a:xfrm>
          <a:prstGeom prst="roundRect">
            <a:avLst>
              <a:gd name="adj" fmla="val 2142"/>
            </a:avLst>
          </a:prstGeom>
          <a:solidFill>
            <a:srgbClr val="DCDCE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9525000" cy="53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5F5F6E">
                    <a:alpha val="35000"/>
                  </a:srgbClr>
                </a:solidFill>
                <a:latin typeface="Arial"/>
                <a:ea typeface="Microsoft JhengHei"/>
              </a:rPr>
              <a:t>figure from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810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5F6E"/>
                </a:solidFill>
                <a:latin typeface="Arial"/>
                <a:ea typeface="Microsoft JhengHei"/>
              </a:rPr>
              <a:t>Fig. N  caption in muted grey; "redrawn from the paper's Fig. N data" if redrawn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7500" y="4000500"/>
            <a:ext cx="3429000" cy="2095500"/>
          </a:xfrm>
          <a:prstGeom prst="roundRect">
            <a:avLst>
              <a:gd name="adj" fmla="val 5454"/>
            </a:avLst>
          </a:prstGeom>
          <a:solidFill>
            <a:srgbClr val="C9D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57500" y="4000500"/>
            <a:ext cx="3429000" cy="2095500"/>
          </a:xfrm>
          <a:prstGeom prst="roundRect">
            <a:avLst>
              <a:gd name="adj" fmla="val 7272"/>
            </a:avLst>
          </a:prstGeom>
          <a:noFill/>
          <a:ln w="76200">
            <a:solidFill>
              <a:srgbClr val="FF5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239500" y="4476750"/>
            <a:ext cx="5114544" cy="1089660"/>
          </a:xfrm>
          <a:prstGeom prst="roundRect">
            <a:avLst>
              <a:gd name="adj" fmla="val 13986"/>
            </a:avLst>
          </a:prstGeom>
          <a:solidFill>
            <a:srgbClr val="F0F0F0"/>
          </a:solidFill>
          <a:ln w="19050">
            <a:solidFill>
              <a:srgbClr val="99B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0" y="4476750"/>
            <a:ext cx="4733544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5757"/>
                </a:solidFill>
                <a:latin typeface="Arial"/>
                <a:ea typeface="Microsoft JhengHei"/>
              </a:rPr>
              <a:t>This part means 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00800" y="4762500"/>
            <a:ext cx="4724400" cy="571500"/>
          </a:xfrm>
          <a:prstGeom prst="rightArrow">
            <a:avLst/>
          </a:prstGeom>
          <a:solidFill>
            <a:srgbClr val="C8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43815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150"/>
            <a:ext cx="18288000" cy="40005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69164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3333B2"/>
                </a:solidFill>
                <a:latin typeface="Arial"/>
                <a:ea typeface="Microsoft JhengHei"/>
              </a:rPr>
              <a:t>Two blocks side by side (discussion)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906000"/>
            <a:ext cx="9144000" cy="381000"/>
          </a:xfrm>
          <a:prstGeom prst="rect">
            <a:avLst/>
          </a:prstGeom>
          <a:solidFill>
            <a:srgbClr val="474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906000"/>
            <a:ext cx="9144000" cy="381000"/>
          </a:xfrm>
          <a:prstGeom prst="rect">
            <a:avLst/>
          </a:prstGeom>
          <a:solidFill>
            <a:srgbClr val="858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" y="9906000"/>
            <a:ext cx="84582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Arial"/>
                <a:ea typeface="Microsoft JhengHei"/>
              </a:rPr>
              <a:t>Short Deck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6900" y="99060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Source Authors / Institution,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0" y="9906000"/>
            <a:ext cx="28575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1F1F5C"/>
                </a:solidFill>
                <a:latin typeface="Arial"/>
                <a:ea typeface="Microsoft JhengHei"/>
              </a:rPr>
              <a:t>3 /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76500"/>
            <a:ext cx="8001000" cy="666750"/>
          </a:xfrm>
          <a:prstGeom prst="roundRect">
            <a:avLst>
              <a:gd name="adj" fmla="val 17142"/>
            </a:avLst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476500"/>
            <a:ext cx="7620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Why it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43250"/>
            <a:ext cx="8001000" cy="3619500"/>
          </a:xfrm>
          <a:prstGeom prst="roundRect">
            <a:avLst>
              <a:gd name="adj" fmla="val 315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429000"/>
            <a:ext cx="75247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9100" indent="-419100">
              <a:spcAft>
                <a:spcPts val="1000"/>
              </a:spcAft>
              <a:buFont typeface="Arial"/>
              <a:buChar char="•"/>
            </a:pPr>
            <a:r>
              <a:rPr sz="3000" b="0" i="0">
                <a:solidFill>
                  <a:srgbClr val="1A1A1A"/>
                </a:solidFill>
                <a:latin typeface="Arial"/>
                <a:ea typeface="Microsoft JhengHei"/>
              </a:rPr>
              <a:t>point with a number</a:t>
            </a:r>
          </a:p>
          <a:p>
            <a:pPr algn="l" marL="419100" indent="-419100">
              <a:spcAft>
                <a:spcPts val="1000"/>
              </a:spcAft>
              <a:buFont typeface="Arial"/>
              <a:buChar char="•"/>
            </a:pPr>
            <a:r>
              <a:rPr sz="3000" b="0" i="0">
                <a:solidFill>
                  <a:srgbClr val="1A1A1A"/>
                </a:solidFill>
                <a:latin typeface="Arial"/>
                <a:ea typeface="Microsoft JhengHei"/>
              </a:rPr>
              <a:t>second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8300" y="2476500"/>
            <a:ext cx="8001000" cy="666750"/>
          </a:xfrm>
          <a:prstGeom prst="roundRect">
            <a:avLst>
              <a:gd name="adj" fmla="val 17142"/>
            </a:avLst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0" y="2476500"/>
            <a:ext cx="7620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Limits the authors admit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8300" y="3143250"/>
            <a:ext cx="8001000" cy="3619500"/>
          </a:xfrm>
          <a:prstGeom prst="roundRect">
            <a:avLst>
              <a:gd name="adj" fmla="val 315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0" y="3429000"/>
            <a:ext cx="75247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9100" indent="-419100">
              <a:spcAft>
                <a:spcPts val="1000"/>
              </a:spcAft>
              <a:buFont typeface="Arial"/>
              <a:buChar char="•"/>
            </a:pPr>
            <a:r>
              <a:rPr sz="3000" b="0" i="0">
                <a:solidFill>
                  <a:srgbClr val="1A1A1A"/>
                </a:solidFill>
                <a:latin typeface="Arial"/>
                <a:ea typeface="Microsoft JhengHei"/>
              </a:rPr>
              <a:t>quote their wording</a:t>
            </a:r>
          </a:p>
          <a:p>
            <a:pPr algn="l" marL="419100" indent="-419100">
              <a:spcAft>
                <a:spcPts val="1000"/>
              </a:spcAft>
              <a:buFont typeface="Arial"/>
              <a:buChar char="•"/>
            </a:pPr>
            <a:r>
              <a:rPr sz="3000" b="0" i="0">
                <a:solidFill>
                  <a:srgbClr val="1A1A1A"/>
                </a:solidFill>
                <a:latin typeface="Arial"/>
                <a:ea typeface="Microsoft JhengHei"/>
              </a:rPr>
              <a:t>"in some cases"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30500" y="7048500"/>
            <a:ext cx="1905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F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430500" y="7048500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5F5F6E"/>
                </a:solidFill>
                <a:latin typeface="Arial"/>
                <a:ea typeface="Microsoft JhengHei"/>
              </a:rPr>
              <a:t>QR</a:t>
            </a:r>
          </a:p>
          <a:p>
            <a:pPr algn="ctr"/>
            <a:r>
              <a:rPr sz="2400" b="0" i="0">
                <a:solidFill>
                  <a:srgbClr val="5F5F6E"/>
                </a:solidFill>
                <a:latin typeface="Arial"/>
                <a:ea typeface="Microsoft JhengHei"/>
              </a:rPr>
              <a:t>placeholder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47596" y="9048750"/>
            <a:ext cx="3670808" cy="391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5F5F6E"/>
                </a:solidFill>
                <a:latin typeface="Arial"/>
                <a:ea typeface="Microsoft JhengHei"/>
              </a:rPr>
              <a:t>Slido QR (placeholder)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